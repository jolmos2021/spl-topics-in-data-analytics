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1" r:id="rId10"/>
    <p:sldId id="269" r:id="rId11"/>
    <p:sldId id="270" r:id="rId12"/>
    <p:sldId id="262" r:id="rId13"/>
    <p:sldId id="263" r:id="rId14"/>
    <p:sldId id="264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0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4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2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6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7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94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6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94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5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62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7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05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1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This project focuses on predicting next-day foreign exchange (FOREX) prices using machine learning techniques.</a:t>
            </a:r>
          </a:p>
          <a:p>
            <a:endParaRPr dirty="0"/>
          </a:p>
          <a:p>
            <a:r>
              <a:rPr dirty="0"/>
              <a:t>Two datasets were integrated: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Historical FOREX price data (via API)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Macroeconomic indicators (interest rates, oil </a:t>
            </a:r>
            <a:r>
              <a:rPr lang="en-CA" dirty="0"/>
              <a:t>	</a:t>
            </a:r>
            <a:r>
              <a:rPr dirty="0"/>
              <a:t>prices, CPI)</a:t>
            </a:r>
          </a:p>
          <a:p>
            <a:endParaRPr dirty="0"/>
          </a:p>
          <a:p>
            <a:r>
              <a:rPr dirty="0"/>
              <a:t>The objective is to forecast currency movements, a task known for its complexity and volatility.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Collection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Data Sources: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FOREX data retrieved using financial API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Macroeconomic data retrieved from FRED API</a:t>
            </a:r>
          </a:p>
          <a:p>
            <a:endParaRPr dirty="0"/>
          </a:p>
          <a:p>
            <a:r>
              <a:rPr dirty="0"/>
              <a:t>Data Integration: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Merged datasets using time series (date) as the </a:t>
            </a:r>
            <a:r>
              <a:rPr lang="en-CA" dirty="0"/>
              <a:t>	</a:t>
            </a:r>
            <a:r>
              <a:rPr dirty="0"/>
              <a:t>common key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Ensured alignment and handling of missing values</a:t>
            </a:r>
          </a:p>
          <a:p>
            <a:endParaRPr dirty="0"/>
          </a:p>
          <a:p>
            <a:r>
              <a:rPr dirty="0"/>
              <a:t>This approach allows combining market behavior with economic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A7918-06CE-D1B8-5D55-4535A88E2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438151"/>
            <a:ext cx="6711654" cy="5810256"/>
          </a:xfrm>
        </p:spPr>
        <p:txBody>
          <a:bodyPr/>
          <a:lstStyle/>
          <a:p>
            <a:r>
              <a:rPr lang="en-US" sz="1800" dirty="0"/>
              <a:t>The datasets were collected using financial and macroeconomic APIs.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The historical data spans from 2016 to 2026, ensuring a robust time series for model training.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Macroeconomic indicators such as interest rates, oil prices, and CPI were integrated to enrich the analysis.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88669-ABAE-0A07-1245-09F0AF21B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75" y="3238087"/>
            <a:ext cx="5372850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9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and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Key preprocessing steps: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Handling missing values and normalization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Creation of lag features (previous days prices)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Calculation of technical indicators:</a:t>
            </a:r>
          </a:p>
          <a:p>
            <a:pPr marL="0" indent="0">
              <a:buNone/>
            </a:pPr>
            <a:r>
              <a:rPr lang="en-CA" dirty="0"/>
              <a:t>		</a:t>
            </a:r>
            <a:r>
              <a:rPr dirty="0"/>
              <a:t>* Moving Averages (SMA)</a:t>
            </a:r>
          </a:p>
          <a:p>
            <a:pPr marL="0" indent="0">
              <a:buNone/>
            </a:pPr>
            <a:r>
              <a:rPr lang="en-CA" dirty="0"/>
              <a:t>		</a:t>
            </a:r>
            <a:r>
              <a:rPr dirty="0"/>
              <a:t>* Relative Strength Index (RSI)</a:t>
            </a:r>
          </a:p>
          <a:p>
            <a:pPr marL="0" indent="0">
              <a:buNone/>
            </a:pPr>
            <a:r>
              <a:rPr lang="en-CA" dirty="0"/>
              <a:t>		</a:t>
            </a:r>
            <a:r>
              <a:rPr dirty="0"/>
              <a:t>* MACD</a:t>
            </a:r>
          </a:p>
          <a:p>
            <a:pPr marL="0" indent="0">
              <a:buNone/>
            </a:pPr>
            <a:r>
              <a:rPr lang="en-CA" dirty="0"/>
              <a:t>		</a:t>
            </a:r>
            <a:r>
              <a:rPr dirty="0"/>
              <a:t>* Volatility measures</a:t>
            </a:r>
          </a:p>
          <a:p>
            <a:endParaRPr dirty="0"/>
          </a:p>
          <a:p>
            <a:r>
              <a:rPr dirty="0"/>
              <a:t>These features help capture patterns in time series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2D46-1569-B836-95D0-4A83929C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609601"/>
            <a:ext cx="6711654" cy="5638806"/>
          </a:xfrm>
        </p:spPr>
        <p:txBody>
          <a:bodyPr/>
          <a:lstStyle/>
          <a:p>
            <a:r>
              <a:rPr lang="en-US" dirty="0"/>
              <a:t>After cleaning and preprocessing, the dataset contained 7,913 observations and 20 features.</a:t>
            </a:r>
            <a:br>
              <a:rPr lang="en-US" dirty="0"/>
            </a:br>
            <a:r>
              <a:rPr lang="en-US" dirty="0"/>
              <a:t>Feature engineering included technical indicators and lag variables to capture temporal dependencies.</a:t>
            </a:r>
          </a:p>
          <a:p>
            <a:endParaRPr lang="en-US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B6EA9-DA5D-4B8F-B3B8-837218943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91" y="3252763"/>
            <a:ext cx="4963218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8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Two machine learning models were implemented: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- </a:t>
            </a:r>
            <a:r>
              <a:rPr lang="en-CA" dirty="0" err="1"/>
              <a:t>LightGBM</a:t>
            </a:r>
            <a:r>
              <a:rPr lang="en-CA" dirty="0"/>
              <a:t> Regressor</a:t>
            </a:r>
          </a:p>
          <a:p>
            <a:pPr marL="0" indent="0">
              <a:buNone/>
            </a:pPr>
            <a:r>
              <a:rPr lang="en-CA" dirty="0"/>
              <a:t>	- Random Forest Regressor</a:t>
            </a:r>
          </a:p>
          <a:p>
            <a:endParaRPr dirty="0"/>
          </a:p>
          <a:p>
            <a:r>
              <a:rPr dirty="0"/>
              <a:t>Training Strategy: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Time-based split (80% training, 20% testing)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Avoided random shuffling to preserve temporal </a:t>
            </a:r>
            <a:r>
              <a:rPr lang="en-CA" dirty="0"/>
              <a:t>	</a:t>
            </a:r>
            <a:r>
              <a:rPr dirty="0"/>
              <a:t>structure</a:t>
            </a:r>
          </a:p>
          <a:p>
            <a:endParaRPr dirty="0"/>
          </a:p>
          <a:p>
            <a:r>
              <a:rPr dirty="0"/>
              <a:t>Evaluation Metric: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Mean Absolute Error (MAE)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6092A-237D-738D-6EBD-D65A2EB39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016001"/>
            <a:ext cx="6711654" cy="5753106"/>
          </a:xfrm>
        </p:spPr>
        <p:txBody>
          <a:bodyPr/>
          <a:lstStyle/>
          <a:p>
            <a:r>
              <a:rPr lang="en-US" dirty="0"/>
              <a:t>The models were trained using a time-based split, with 80% of the data allocated for training.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approach preserves the chronological order, which is critical in time series forecasting.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6DD8B-D379-CA00-87C6-8D9A2BD1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7" y="3325728"/>
            <a:ext cx="8342625" cy="11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6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90651"/>
            <a:ext cx="6711654" cy="4857756"/>
          </a:xfrm>
        </p:spPr>
        <p:txBody>
          <a:bodyPr>
            <a:normAutofit/>
          </a:bodyPr>
          <a:lstStyle/>
          <a:p>
            <a:r>
              <a:rPr sz="1900" dirty="0"/>
              <a:t>The models were evaluated on unseen test data.</a:t>
            </a:r>
          </a:p>
          <a:p>
            <a:r>
              <a:rPr sz="1900" dirty="0"/>
              <a:t>Key observations:</a:t>
            </a:r>
          </a:p>
          <a:p>
            <a:pPr marL="0" indent="0">
              <a:buNone/>
            </a:pPr>
            <a:r>
              <a:rPr lang="en-CA" sz="1900" dirty="0"/>
              <a:t>	</a:t>
            </a:r>
            <a:r>
              <a:rPr sz="1900" dirty="0"/>
              <a:t>- </a:t>
            </a:r>
            <a:r>
              <a:rPr sz="1900" dirty="0" err="1"/>
              <a:t>LightGBM</a:t>
            </a:r>
            <a:r>
              <a:rPr sz="1900" dirty="0"/>
              <a:t> generally provided better accuracy</a:t>
            </a:r>
          </a:p>
          <a:p>
            <a:pPr marL="0" indent="0">
              <a:buNone/>
            </a:pPr>
            <a:r>
              <a:rPr lang="en-CA" sz="1900" dirty="0"/>
              <a:t>	</a:t>
            </a:r>
            <a:r>
              <a:rPr sz="1900" dirty="0"/>
              <a:t>- Random Forest showed stable but slightly less </a:t>
            </a:r>
            <a:r>
              <a:rPr lang="en-CA" sz="1900" dirty="0"/>
              <a:t>	</a:t>
            </a:r>
            <a:r>
              <a:rPr sz="1900" dirty="0"/>
              <a:t>precise predictions</a:t>
            </a:r>
          </a:p>
          <a:p>
            <a:r>
              <a:rPr sz="1900" dirty="0"/>
              <a:t>Results indicate that ensemble models are effective for financial forecasting.</a:t>
            </a:r>
            <a:endParaRPr lang="en-CA" sz="1900" dirty="0"/>
          </a:p>
          <a:p>
            <a:r>
              <a:rPr lang="en-US" sz="1900" dirty="0"/>
              <a:t>The Random Forest model outperformed </a:t>
            </a:r>
            <a:r>
              <a:rPr lang="en-US" sz="1900" dirty="0" err="1"/>
              <a:t>LightGBM</a:t>
            </a:r>
            <a:r>
              <a:rPr lang="en-US" sz="1900" dirty="0"/>
              <a:t> based on the evaluation metric (MAE).</a:t>
            </a:r>
          </a:p>
          <a:p>
            <a:r>
              <a:rPr lang="en-US" sz="1900" dirty="0"/>
              <a:t>This suggests that ensemble tree-based methods are effective in capturing nonlinear relationships in financial data.</a:t>
            </a:r>
            <a:endParaRPr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AB802-0EAF-0D3B-317F-CC7F384B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108" y="5875313"/>
            <a:ext cx="2562583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project includes visualization of: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Historical price trends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Predicted future values</a:t>
            </a:r>
          </a:p>
          <a:p>
            <a:endParaRPr dirty="0"/>
          </a:p>
          <a:p>
            <a:r>
              <a:rPr dirty="0"/>
              <a:t>Charts illustrate: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Comparison between actual and predicted </a:t>
            </a:r>
            <a:r>
              <a:rPr lang="en-CA" dirty="0"/>
              <a:t>	</a:t>
            </a:r>
            <a:r>
              <a:rPr dirty="0"/>
              <a:t>values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Transition point between historical data and </a:t>
            </a:r>
            <a:r>
              <a:rPr lang="en-CA" dirty="0"/>
              <a:t>	</a:t>
            </a:r>
            <a:r>
              <a:rPr dirty="0"/>
              <a:t>forecasts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EC32-085B-077A-4623-5E376E29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500" y="1567601"/>
            <a:ext cx="6711654" cy="3568699"/>
          </a:xfrm>
        </p:spPr>
        <p:txBody>
          <a:bodyPr/>
          <a:lstStyle/>
          <a:p>
            <a:r>
              <a:rPr lang="en-US" dirty="0"/>
              <a:t>The visualization compares historical data with predicted values.</a:t>
            </a:r>
          </a:p>
          <a:p>
            <a:r>
              <a:rPr lang="en-US" dirty="0"/>
              <a:t>The transition between actual and forecasted values is clearly illustrated, providing insight into model behavior and trend continuation.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AE752-8F42-A090-4E7E-5036F3CD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71" y="3817130"/>
            <a:ext cx="7133658" cy="202497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D0897B-A37D-A60D-36E5-B37E850C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</p:spPr>
        <p:txBody>
          <a:bodyPr/>
          <a:lstStyle/>
          <a:p>
            <a:r>
              <a:rPr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199530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650CF8-AB83-C8CB-7153-8F595D444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238" y="1680770"/>
            <a:ext cx="6711950" cy="18708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9F229-892A-0E6E-6695-F3DC6273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38" y="4198834"/>
            <a:ext cx="6711950" cy="18874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DA20E5A-4720-3A3B-7DED-4D66C34C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</p:spPr>
        <p:txBody>
          <a:bodyPr/>
          <a:lstStyle/>
          <a:p>
            <a:r>
              <a:rPr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79748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Key learnings from this project: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Importance of feature engineering in time series </a:t>
            </a:r>
            <a:r>
              <a:rPr lang="en-CA" dirty="0"/>
              <a:t>	</a:t>
            </a:r>
            <a:r>
              <a:rPr dirty="0"/>
              <a:t>forecasting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Value of combining multiple data sources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Challenges of predicting financial markets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Differences in model performance and </a:t>
            </a:r>
            <a:r>
              <a:rPr lang="en-CA" dirty="0"/>
              <a:t>	</a:t>
            </a:r>
            <a:r>
              <a:rPr dirty="0"/>
              <a:t>behavior</a:t>
            </a:r>
          </a:p>
          <a:p>
            <a:endParaRPr dirty="0"/>
          </a:p>
          <a:p>
            <a:r>
              <a:rPr dirty="0"/>
              <a:t>Hands-on experience with real-world data pipelines and ML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Several limitations were identified: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Financial markets are highly volatile and </a:t>
            </a:r>
            <a:r>
              <a:rPr lang="en-CA" dirty="0"/>
              <a:t>	</a:t>
            </a:r>
            <a:r>
              <a:rPr dirty="0"/>
              <a:t>influenced by external factors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Limited macroeconomic variables included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Short prediction horizon (next-day only)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Models do not account for sudden market </a:t>
            </a:r>
            <a:r>
              <a:rPr lang="en-CA" dirty="0"/>
              <a:t>	</a:t>
            </a:r>
            <a:r>
              <a:rPr dirty="0"/>
              <a:t>shocks or news events</a:t>
            </a:r>
          </a:p>
          <a:p>
            <a:endParaRPr dirty="0"/>
          </a:p>
          <a:p>
            <a:r>
              <a:rPr dirty="0"/>
              <a:t>Future improvements could address these issues.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Summary: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Successfully built a machine learning pipeline for FOREX </a:t>
            </a:r>
            <a:r>
              <a:rPr lang="en-CA" dirty="0"/>
              <a:t>	</a:t>
            </a:r>
            <a:r>
              <a:rPr dirty="0"/>
              <a:t>prediction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Integrated multiple datasets using time series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Evaluated and selected the best-performing model</a:t>
            </a:r>
          </a:p>
          <a:p>
            <a:endParaRPr dirty="0"/>
          </a:p>
          <a:p>
            <a:r>
              <a:rPr dirty="0"/>
              <a:t>Predictions: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The model generates next-day forecasts for selected </a:t>
            </a:r>
            <a:r>
              <a:rPr lang="en-CA" dirty="0"/>
              <a:t>	</a:t>
            </a:r>
            <a:r>
              <a:rPr dirty="0"/>
              <a:t>currency pairs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- Results can support decision-making but should be used </a:t>
            </a:r>
            <a:r>
              <a:rPr lang="en-CA" dirty="0"/>
              <a:t>	</a:t>
            </a:r>
            <a:r>
              <a:rPr dirty="0"/>
              <a:t>cautiously</a:t>
            </a:r>
          </a:p>
          <a:p>
            <a:endParaRPr dirty="0"/>
          </a:p>
          <a:p>
            <a:r>
              <a:rPr dirty="0"/>
              <a:t>This project demonstrates practical application of data analytics in finance.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42C3-0ED6-8612-E4DF-996D6DF9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527051"/>
            <a:ext cx="6711654" cy="5721356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model generates next-day predictions for multiple currency pairs.</a:t>
            </a:r>
          </a:p>
          <a:p>
            <a:r>
              <a:rPr lang="en-US" dirty="0"/>
              <a:t>These forecasts demonstrate the practical application of machine learning in financial decision-making.</a:t>
            </a:r>
          </a:p>
          <a:p>
            <a:r>
              <a:rPr lang="en-US" dirty="0"/>
              <a:t>However, predictions should be interpreted cautiously due to market volatility.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7CF68-9809-3A21-0CFD-26D9CE6D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3937000"/>
            <a:ext cx="54006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0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720</Words>
  <Application>Microsoft Office PowerPoint</Application>
  <PresentationFormat>On-screen Show (4:3)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Project Overview</vt:lpstr>
      <vt:lpstr>Data Collection and Integration</vt:lpstr>
      <vt:lpstr>PowerPoint Presentation</vt:lpstr>
      <vt:lpstr>Data Processing and Feature Engineering</vt:lpstr>
      <vt:lpstr>PowerPoint Presentation</vt:lpstr>
      <vt:lpstr>Model Development</vt:lpstr>
      <vt:lpstr>PowerPoint Presentation</vt:lpstr>
      <vt:lpstr>Model Results</vt:lpstr>
      <vt:lpstr>Visualization</vt:lpstr>
      <vt:lpstr>Visualization</vt:lpstr>
      <vt:lpstr>Visualization</vt:lpstr>
      <vt:lpstr>What I Learned</vt:lpstr>
      <vt:lpstr>Limitations</vt:lpstr>
      <vt:lpstr>Summary and Predictions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Olmos Quiñones, Jose M.</cp:lastModifiedBy>
  <cp:revision>6</cp:revision>
  <dcterms:created xsi:type="dcterms:W3CDTF">2013-01-27T09:14:16Z</dcterms:created>
  <dcterms:modified xsi:type="dcterms:W3CDTF">2026-04-02T22:55:26Z</dcterms:modified>
  <cp:category/>
</cp:coreProperties>
</file>